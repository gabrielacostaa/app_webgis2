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000">
                <a:solidFill>
                  <a:srgbClr val="FFFFFF"/>
                </a:solidFill>
              </a:defRPr>
            </a:pPr>
            <a:r>
              <a:t>DESENVOLVIMENTO DO GEOPORTAL WEBGIS MOVMASSA</a:t>
            </a:r>
          </a:p>
          <a:p>
            <a:pPr>
              <a:spcBef>
                <a:spcPts val="1400"/>
              </a:spcBef>
              <a:defRPr sz="2000">
                <a:solidFill>
                  <a:srgbClr val="CBD5E1"/>
                </a:solidFill>
              </a:defRPr>
            </a:pPr>
            <a:r>
              <a:t>Geotecnologias Aplicadas à Ciência do Solo, Gestão de Riscos e Curadoria Técnica de Encostas</a:t>
            </a:r>
          </a:p>
          <a:p>
            <a:pPr>
              <a:spcBef>
                <a:spcPts val="3000"/>
              </a:spcBef>
              <a:defRPr sz="1500" i="1">
                <a:solidFill>
                  <a:srgbClr val="94A3B8"/>
                </a:solidFill>
              </a:defRPr>
            </a:pPr>
            <a:r>
              <a:t>Apresentação para Banca Examinadora de Doutorado (Agronomia / Ciência do Solo)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Arquitetura Didática do WebGIS MOVMASSA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B365D"/>
                </a:solidFill>
              </a:defRPr>
            </a:pPr>
            <a:r>
              <a:t>Visual &amp; Mapa (Frontend)</a:t>
            </a:r>
          </a:p>
          <a:p>
            <a:pPr>
              <a:spcAft>
                <a:spcPts val="1200"/>
              </a:spcAft>
              <a:defRPr i="1" sz="1200">
                <a:solidFill>
                  <a:srgbClr val="2E6B9E"/>
                </a:solidFill>
              </a:defRPr>
            </a:pPr>
            <a:r>
              <a:t>JavaScript (Leaflet.js)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Renderização de mapa dinâmico com satélite.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Agrupamento espacial (~100m) em clusters.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Geolocalização automática por GPS móvel.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Upload direto de fotos e vídeos da encosta.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B365D"/>
                </a:solidFill>
              </a:defRPr>
            </a:pPr>
            <a:r>
              <a:t>Motor no Servidor (Backend)</a:t>
            </a:r>
          </a:p>
          <a:p>
            <a:pPr>
              <a:spcAft>
                <a:spcPts val="1200"/>
              </a:spcAft>
              <a:defRPr i="1" sz="1200">
                <a:solidFill>
                  <a:srgbClr val="2E6B9E"/>
                </a:solidFill>
              </a:defRPr>
            </a:pPr>
            <a:r>
              <a:t>Python 3.9 (Flask) + GeoPandas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Processamento de coordenadas e geometrias.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Validação de regras de acesso (RBAC).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Geração de relatórios técnicos em PDF.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Exportação GIS (Shapefile .zip, GeoJSON).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291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B365D"/>
                </a:solidFill>
              </a:defRPr>
            </a:pPr>
            <a:r>
              <a:t>Dados Ambientais (SQL)</a:t>
            </a:r>
          </a:p>
          <a:p>
            <a:pPr>
              <a:spcAft>
                <a:spcPts val="1200"/>
              </a:spcAft>
              <a:defRPr i="1" sz="1200">
                <a:solidFill>
                  <a:srgbClr val="2E6B9E"/>
                </a:solidFill>
              </a:defRPr>
            </a:pPr>
            <a:r>
              <a:t>SQLite3 / PostgreSQL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Dicionário de Dados com 10 domínios.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Dados de Pedologia, Clima, Relevo e Mídia.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Bloqueio de duplicidade por CPF do agente.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Histórico oficial com rastreabilidade.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Governança Territorial e Níveis de Permissão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B365D"/>
                </a:solidFill>
              </a:defRPr>
            </a:pPr>
            <a:r>
              <a:t>Agentes de Campo</a:t>
            </a:r>
          </a:p>
          <a:p>
            <a:pPr>
              <a:spcAft>
                <a:spcPts val="1200"/>
              </a:spcAft>
              <a:defRPr i="1" sz="1200">
                <a:solidFill>
                  <a:srgbClr val="2E6B9E"/>
                </a:solidFill>
              </a:defRPr>
            </a:pPr>
            <a:r>
              <a:t>Autonomia de Levantamento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Cadastram pontos individuais e massivos (Shapefile/CSV).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Visualizam a Curadoria Técnica completa para transparência.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Editam e excluem EXCLUSIVAMENTE os seus próprios pontos.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✖ Não aprovam/rejeitam submissões nem gerenciam usuários.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B365D"/>
                </a:solidFill>
              </a:defRPr>
            </a:pPr>
            <a:r>
              <a:t>Gestores por Esfera</a:t>
            </a:r>
          </a:p>
          <a:p>
            <a:pPr>
              <a:spcAft>
                <a:spcPts val="1200"/>
              </a:spcAft>
              <a:defRPr i="1" sz="1200">
                <a:solidFill>
                  <a:srgbClr val="2E6B9E"/>
                </a:solidFill>
              </a:defRPr>
            </a:pPr>
            <a:r>
              <a:t>Nacional, Estadual e Municipal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Cadastram agentes exclusivamente da sua esfera administrativa.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Editam, aprovam, rejeitam e excluem QUALQUER ponto de sua esfera.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Garantem o controle de qualidade institucional dos dados.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✖ Não alteram cadastros de esferas paralelas.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291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B365D"/>
                </a:solidFill>
              </a:defRPr>
            </a:pPr>
            <a:r>
              <a:t>Admin Geral</a:t>
            </a:r>
          </a:p>
          <a:p>
            <a:pPr>
              <a:spcAft>
                <a:spcPts val="1200"/>
              </a:spcAft>
              <a:defRPr i="1" sz="1200">
                <a:solidFill>
                  <a:srgbClr val="2E6B9E"/>
                </a:solidFill>
              </a:defRPr>
            </a:pPr>
            <a:r>
              <a:t>Gestão Científica e Global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Acesso total e irrestrito sobre todas as esferas e dados.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Nomeia os Gestores da Defesa Civil e Organizações.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Gerencia o banco de dados e as camadas globais do geoportal.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✔ Exporta bases completas para análises de doutorado.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Fluxo Metodológico do Desenvolvimento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" cy="822960"/>
          </a:xfrm>
          <a:prstGeom prst="roundRect">
            <a:avLst/>
          </a:prstGeom>
          <a:solidFill>
            <a:srgbClr val="2E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63040"/>
            <a:ext cx="100584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B365D"/>
                </a:solidFill>
              </a:defRPr>
            </a:pPr>
            <a:r>
              <a:t>1. Padronização Cartográfica WGS 84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Reunificação de limites cartográficos (IBGE), drenagem (ANA) e imagens de satélite.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548640" cy="822960"/>
          </a:xfrm>
          <a:prstGeom prst="roundRect">
            <a:avLst/>
          </a:prstGeom>
          <a:solidFill>
            <a:srgbClr val="2E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468880"/>
            <a:ext cx="100584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B365D"/>
                </a:solidFill>
              </a:defRPr>
            </a:pPr>
            <a:r>
              <a:t>2. Segurança e Controle por CPF/E-mail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Autenticação oficial com CPF obrigatório, matrícula e e-mail automático como login.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548640" cy="822960"/>
          </a:xfrm>
          <a:prstGeom prst="roundRect">
            <a:avLst/>
          </a:prstGeom>
          <a:solidFill>
            <a:srgbClr val="2E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474720"/>
            <a:ext cx="100584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B365D"/>
                </a:solidFill>
              </a:defRPr>
            </a:pPr>
            <a:r>
              <a:t>3. Dicionário Ambiental (10 Domínios)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Formulário de pedologia, pluviosidade, declividade, geologia e relatórios PDF.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548640" cy="822960"/>
          </a:xfrm>
          <a:prstGeom prst="roundRect">
            <a:avLst/>
          </a:prstGeom>
          <a:solidFill>
            <a:srgbClr val="2E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480560"/>
            <a:ext cx="100584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B365D"/>
                </a:solidFill>
              </a:defRPr>
            </a:pPr>
            <a:r>
              <a:t>4. Coleta Mobile &amp; Curadoria Técnica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Captura por GPS no celular e gerenciamento com privilégios por autoria do registro.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548640" cy="822960"/>
          </a:xfrm>
          <a:prstGeom prst="roundRect">
            <a:avLst/>
          </a:prstGeom>
          <a:solidFill>
            <a:srgbClr val="2E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5486400"/>
            <a:ext cx="100584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B365D"/>
                </a:solidFill>
              </a:defRPr>
            </a:pPr>
            <a:r>
              <a:t>5. Exportação Multiformato (GIS)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Download automático dos pontos aprovados em Shapefile (.zip), GeoPackage e GeoJSON.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Contribuição Científica para a Ciência do Solo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800">
                <a:solidFill>
                  <a:srgbClr val="1B365D"/>
                </a:solidFill>
              </a:defRPr>
            </a:pPr>
            <a:r>
              <a:t>Relevância Agronômica &amp; Ambiental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✔ Conservação de Solos em Encostas: Diagnóstico rápido de movimentos de massa em bacias hidrográficas.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✔ Correlação Pedológica: Integração de classes de solos (Cambissolos/Latossolos) com precipitações pluviométricas.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✔ Suporte a Políticas Públicas: Base padronizada para zoneamento ambiental e gestão de riscos.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✔ Coleta Descentralizada: Autonomia para agentes de campo com validação institucional.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800">
                <a:solidFill>
                  <a:srgbClr val="FFFFFF"/>
                </a:solidFill>
              </a:defRPr>
            </a:pPr>
            <a:r>
              <a:t>Fundamentação Bibliográfica (ABNT)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</a:defRPr>
            </a:pPr>
            <a:r>
              <a:t>• EMBRAPA (2018): Sistema Brasileiro de Classificação de Solos.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</a:defRPr>
            </a:pPr>
            <a:r>
              <a:t>• Graser &amp; Olaya (2015): Processamento de dados espaciais em software livre.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</a:defRPr>
            </a:pPr>
            <a:r>
              <a:t>• Pebesma &amp; Bivand (2023): Ciência de Dados Espaciais aplicada.</a:t>
            </a:r>
          </a:p>
          <a:p>
            <a:pPr>
              <a:spcAft>
                <a:spcPts val="1000"/>
              </a:spcAft>
              <a:defRPr sz="1300">
                <a:solidFill>
                  <a:srgbClr val="E2E8F0"/>
                </a:solidFill>
              </a:defRPr>
            </a:pPr>
            <a:r>
              <a:t>• Goodchild (2007): Sensoriamento participativo e informação geográfica voluntária.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